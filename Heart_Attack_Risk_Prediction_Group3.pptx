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2"/>
  </p:normalViewPr>
  <p:slideViewPr>
    <p:cSldViewPr snapToGrid="0">
      <p:cViewPr varScale="1">
        <p:scale>
          <a:sx n="163" d="100"/>
          <a:sy n="163" d="100"/>
        </p:scale>
        <p:origin x="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69795"/>
            <a:ext cx="731520" cy="73152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0"/>
          <p:cNvSpPr txBox="1"/>
          <p:nvPr/>
        </p:nvSpPr>
        <p:spPr>
          <a:xfrm>
            <a:off x="502919" y="1087120"/>
            <a:ext cx="8138161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Heart Attack Risk Prediction</a:t>
            </a:r>
          </a:p>
        </p:txBody>
      </p:sp>
      <p:sp>
        <p:nvSpPr>
          <p:cNvPr id="22" name="Text 1"/>
          <p:cNvSpPr txBox="1"/>
          <p:nvPr/>
        </p:nvSpPr>
        <p:spPr>
          <a:xfrm>
            <a:off x="502919" y="2839164"/>
            <a:ext cx="8138162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00A89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Using Machine Learning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502919" y="3473013"/>
            <a:ext cx="8138162" cy="1100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Samipya Bhattarai, Pukhraj, Vanshika Singh Miyan, Vaibhavi Bogaraja Raj </a:t>
            </a:r>
          </a:p>
          <a:p>
            <a:pPr algn="ctr">
              <a:defRPr sz="1600">
                <a:solidFill>
                  <a:srgbClr val="F5F5F5"/>
                </a:solidFill>
              </a:defRPr>
            </a:pPr>
            <a:r>
              <a:t>ALY 6040 - Data Mining Applications</a:t>
            </a:r>
          </a:p>
          <a:p>
            <a:pPr algn="ctr">
              <a:defRPr sz="1600">
                <a:solidFill>
                  <a:srgbClr val="F5F5F5"/>
                </a:solidFill>
              </a:defRPr>
            </a:pPr>
            <a:r>
              <a:t>Northeastern University</a:t>
            </a:r>
          </a:p>
          <a:p>
            <a:pPr algn="ctr">
              <a:defRPr sz="1600">
                <a:solidFill>
                  <a:srgbClr val="F5F5F5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 0"/>
          <p:cNvSpPr txBox="1"/>
          <p:nvPr/>
        </p:nvSpPr>
        <p:spPr>
          <a:xfrm>
            <a:off x="914400" y="359410"/>
            <a:ext cx="844203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Problem Statement &amp; Research Question</a:t>
            </a:r>
          </a:p>
        </p:txBody>
      </p:sp>
      <p:sp>
        <p:nvSpPr>
          <p:cNvPr id="27" name="Shape 1"/>
          <p:cNvSpPr/>
          <p:nvPr/>
        </p:nvSpPr>
        <p:spPr>
          <a:xfrm>
            <a:off x="457200" y="1097280"/>
            <a:ext cx="8229600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8" name="Shape 2"/>
          <p:cNvSpPr/>
          <p:nvPr/>
        </p:nvSpPr>
        <p:spPr>
          <a:xfrm>
            <a:off x="457200" y="1097280"/>
            <a:ext cx="73153" cy="1097281"/>
          </a:xfrm>
          <a:prstGeom prst="rect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3"/>
          <p:cNvSpPr txBox="1"/>
          <p:nvPr/>
        </p:nvSpPr>
        <p:spPr>
          <a:xfrm>
            <a:off x="685800" y="1164461"/>
            <a:ext cx="7680961" cy="103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Importance of Early Prediction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Heart disease is the leading cause of death globally, accounting for 31% of all deaths. Early prediction enables timely intervention, lifestyle modifications, and treatment, potentially saving millions of lives annually.</a:t>
            </a:r>
          </a:p>
        </p:txBody>
      </p:sp>
      <p:sp>
        <p:nvSpPr>
          <p:cNvPr id="30" name="Shape 4"/>
          <p:cNvSpPr/>
          <p:nvPr/>
        </p:nvSpPr>
        <p:spPr>
          <a:xfrm>
            <a:off x="457200" y="2377439"/>
            <a:ext cx="8229600" cy="914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" name="Shape 5"/>
          <p:cNvSpPr/>
          <p:nvPr/>
        </p:nvSpPr>
        <p:spPr>
          <a:xfrm>
            <a:off x="457200" y="2377439"/>
            <a:ext cx="73153" cy="91440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" name="Text 6"/>
          <p:cNvSpPr txBox="1"/>
          <p:nvPr/>
        </p:nvSpPr>
        <p:spPr>
          <a:xfrm>
            <a:off x="685800" y="2433890"/>
            <a:ext cx="7680960" cy="80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Research Question</a:t>
            </a:r>
          </a:p>
          <a:p>
            <a:pPr>
              <a:defRPr sz="1400" i="1">
                <a:solidFill>
                  <a:srgbClr val="5A5A5A"/>
                </a:solidFill>
              </a:defRPr>
            </a:pPr>
            <a:r>
              <a:t>Can machine learning models accurately predict heart attack risk based on patient health indicators and lifestyle factors?</a:t>
            </a:r>
          </a:p>
        </p:txBody>
      </p:sp>
      <p:sp>
        <p:nvSpPr>
          <p:cNvPr id="33" name="Shape 7"/>
          <p:cNvSpPr/>
          <p:nvPr/>
        </p:nvSpPr>
        <p:spPr>
          <a:xfrm>
            <a:off x="457200" y="3474720"/>
            <a:ext cx="8229600" cy="914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4" name="Shape 8"/>
          <p:cNvSpPr/>
          <p:nvPr/>
        </p:nvSpPr>
        <p:spPr>
          <a:xfrm>
            <a:off x="457200" y="3474720"/>
            <a:ext cx="73153" cy="91440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Text 9"/>
          <p:cNvSpPr txBox="1"/>
          <p:nvPr/>
        </p:nvSpPr>
        <p:spPr>
          <a:xfrm>
            <a:off x="685800" y="3531170"/>
            <a:ext cx="7680960" cy="80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Project Objective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Develop and compare six ML models (Decision Tree, Random Forest, Gradient Boosting, LightGBM, CatBoost, XGBoost) to identify the most accurate approach for predicting heart attack risk.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 txBox="1"/>
          <p:nvPr/>
        </p:nvSpPr>
        <p:spPr>
          <a:xfrm>
            <a:off x="502919" y="362639"/>
            <a:ext cx="8138161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 b="1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Dataset Overview</a:t>
            </a:r>
          </a:p>
        </p:txBody>
      </p:sp>
      <p:sp>
        <p:nvSpPr>
          <p:cNvPr id="38" name="Shape 1"/>
          <p:cNvSpPr/>
          <p:nvPr/>
        </p:nvSpPr>
        <p:spPr>
          <a:xfrm>
            <a:off x="457200" y="1188719"/>
            <a:ext cx="1828800" cy="914401"/>
          </a:xfrm>
          <a:prstGeom prst="rect">
            <a:avLst/>
          </a:prstGeom>
          <a:solidFill>
            <a:srgbClr val="4A90E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Text 2"/>
          <p:cNvSpPr txBox="1"/>
          <p:nvPr/>
        </p:nvSpPr>
        <p:spPr>
          <a:xfrm>
            <a:off x="502919" y="1231319"/>
            <a:ext cx="1737362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1.2M</a:t>
            </a:r>
          </a:p>
        </p:txBody>
      </p:sp>
      <p:sp>
        <p:nvSpPr>
          <p:cNvPr id="40" name="Text 3"/>
          <p:cNvSpPr txBox="1"/>
          <p:nvPr/>
        </p:nvSpPr>
        <p:spPr>
          <a:xfrm>
            <a:off x="502919" y="1752968"/>
            <a:ext cx="17373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Total Cases</a:t>
            </a:r>
          </a:p>
        </p:txBody>
      </p:sp>
      <p:sp>
        <p:nvSpPr>
          <p:cNvPr id="41" name="Shape 4"/>
          <p:cNvSpPr/>
          <p:nvPr/>
        </p:nvSpPr>
        <p:spPr>
          <a:xfrm>
            <a:off x="2560320" y="1188719"/>
            <a:ext cx="1828801" cy="914401"/>
          </a:xfrm>
          <a:prstGeom prst="rect">
            <a:avLst/>
          </a:prstGeom>
          <a:solidFill>
            <a:srgbClr val="E67E2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Text 5"/>
          <p:cNvSpPr txBox="1"/>
          <p:nvPr/>
        </p:nvSpPr>
        <p:spPr>
          <a:xfrm>
            <a:off x="2606040" y="1268173"/>
            <a:ext cx="1737361" cy="57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943,079</a:t>
            </a:r>
          </a:p>
        </p:txBody>
      </p:sp>
      <p:sp>
        <p:nvSpPr>
          <p:cNvPr id="43" name="Text 6"/>
          <p:cNvSpPr txBox="1"/>
          <p:nvPr/>
        </p:nvSpPr>
        <p:spPr>
          <a:xfrm>
            <a:off x="2606040" y="1752968"/>
            <a:ext cx="17373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 Cleaning</a:t>
            </a:r>
          </a:p>
        </p:txBody>
      </p:sp>
      <p:sp>
        <p:nvSpPr>
          <p:cNvPr id="44" name="Shape 7"/>
          <p:cNvSpPr/>
          <p:nvPr/>
        </p:nvSpPr>
        <p:spPr>
          <a:xfrm>
            <a:off x="4663440" y="1188719"/>
            <a:ext cx="1828801" cy="91440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" name="Text 8"/>
          <p:cNvSpPr txBox="1"/>
          <p:nvPr/>
        </p:nvSpPr>
        <p:spPr>
          <a:xfrm>
            <a:off x="4709160" y="1200400"/>
            <a:ext cx="1737361" cy="70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5</a:t>
            </a:r>
          </a:p>
        </p:txBody>
      </p:sp>
      <p:sp>
        <p:nvSpPr>
          <p:cNvPr id="46" name="Text 9"/>
          <p:cNvSpPr txBox="1"/>
          <p:nvPr/>
        </p:nvSpPr>
        <p:spPr>
          <a:xfrm>
            <a:off x="4709160" y="1752968"/>
            <a:ext cx="17373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Years</a:t>
            </a:r>
          </a:p>
        </p:txBody>
      </p:sp>
      <p:sp>
        <p:nvSpPr>
          <p:cNvPr id="47" name="Shape 10"/>
          <p:cNvSpPr/>
          <p:nvPr/>
        </p:nvSpPr>
        <p:spPr>
          <a:xfrm>
            <a:off x="6766559" y="1188719"/>
            <a:ext cx="1920241" cy="914401"/>
          </a:xfrm>
          <a:prstGeom prst="rect">
            <a:avLst/>
          </a:prstGeom>
          <a:solidFill>
            <a:srgbClr val="2C3E5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11"/>
          <p:cNvSpPr txBox="1"/>
          <p:nvPr/>
        </p:nvSpPr>
        <p:spPr>
          <a:xfrm>
            <a:off x="6812279" y="1200400"/>
            <a:ext cx="1828801" cy="70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95%</a:t>
            </a:r>
          </a:p>
        </p:txBody>
      </p:sp>
      <p:sp>
        <p:nvSpPr>
          <p:cNvPr id="49" name="Text 12"/>
          <p:cNvSpPr txBox="1"/>
          <p:nvPr/>
        </p:nvSpPr>
        <p:spPr>
          <a:xfrm>
            <a:off x="6812279" y="1752968"/>
            <a:ext cx="182880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Data Retained</a:t>
            </a:r>
          </a:p>
        </p:txBody>
      </p:sp>
      <p:sp>
        <p:nvSpPr>
          <p:cNvPr id="50" name="Text 13"/>
          <p:cNvSpPr txBox="1"/>
          <p:nvPr/>
        </p:nvSpPr>
        <p:spPr>
          <a:xfrm>
            <a:off x="502919" y="2362129"/>
            <a:ext cx="40233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Key Variables:</a:t>
            </a:r>
          </a:p>
        </p:txBody>
      </p:sp>
      <p:sp>
        <p:nvSpPr>
          <p:cNvPr id="51" name="Text 14"/>
          <p:cNvSpPr txBox="1"/>
          <p:nvPr/>
        </p:nvSpPr>
        <p:spPr>
          <a:xfrm>
            <a:off x="502919" y="2758808"/>
            <a:ext cx="40233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Temporal:</a:t>
            </a:r>
          </a:p>
        </p:txBody>
      </p:sp>
      <p:sp>
        <p:nvSpPr>
          <p:cNvPr id="52" name="Text 15"/>
          <p:cNvSpPr txBox="1"/>
          <p:nvPr/>
        </p:nvSpPr>
        <p:spPr>
          <a:xfrm>
            <a:off x="502919" y="3002232"/>
            <a:ext cx="4023361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Open Date, Close Date, Closure Days, Season, Weekday, Hour</a:t>
            </a:r>
          </a:p>
        </p:txBody>
      </p:sp>
      <p:sp>
        <p:nvSpPr>
          <p:cNvPr id="53" name="Text 16"/>
          <p:cNvSpPr txBox="1"/>
          <p:nvPr/>
        </p:nvSpPr>
        <p:spPr>
          <a:xfrm>
            <a:off x="502919" y="3444608"/>
            <a:ext cx="40233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Categorical:</a:t>
            </a:r>
          </a:p>
        </p:txBody>
      </p:sp>
      <p:sp>
        <p:nvSpPr>
          <p:cNvPr id="54" name="Text 17"/>
          <p:cNvSpPr txBox="1"/>
          <p:nvPr/>
        </p:nvSpPr>
        <p:spPr>
          <a:xfrm>
            <a:off x="502919" y="3688033"/>
            <a:ext cx="4023361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Neighborhood, Department, Request Type, Source (phone, app, web)</a:t>
            </a:r>
          </a:p>
        </p:txBody>
      </p:sp>
      <p:sp>
        <p:nvSpPr>
          <p:cNvPr id="55" name="Text 18"/>
          <p:cNvSpPr txBox="1"/>
          <p:nvPr/>
        </p:nvSpPr>
        <p:spPr>
          <a:xfrm>
            <a:off x="502919" y="4130408"/>
            <a:ext cx="40233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Performance:</a:t>
            </a:r>
          </a:p>
        </p:txBody>
      </p:sp>
      <p:sp>
        <p:nvSpPr>
          <p:cNvPr id="56" name="Text 19"/>
          <p:cNvSpPr txBox="1"/>
          <p:nvPr/>
        </p:nvSpPr>
        <p:spPr>
          <a:xfrm>
            <a:off x="502919" y="4373833"/>
            <a:ext cx="4023361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On-Time Status, Closure Time, Cases per 1,000 Residents</a:t>
            </a:r>
          </a:p>
        </p:txBody>
      </p:sp>
      <p:sp>
        <p:nvSpPr>
          <p:cNvPr id="57" name="Shape 20"/>
          <p:cNvSpPr/>
          <p:nvPr/>
        </p:nvSpPr>
        <p:spPr>
          <a:xfrm>
            <a:off x="4754879" y="2377439"/>
            <a:ext cx="3931921" cy="2468882"/>
          </a:xfrm>
          <a:prstGeom prst="rect">
            <a:avLst/>
          </a:prstGeom>
          <a:solidFill>
            <a:srgbClr val="E8F4F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Text 21"/>
          <p:cNvSpPr txBox="1"/>
          <p:nvPr/>
        </p:nvSpPr>
        <p:spPr>
          <a:xfrm>
            <a:off x="4983479" y="2495063"/>
            <a:ext cx="347472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1C729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Data Sources</a:t>
            </a:r>
          </a:p>
        </p:txBody>
      </p:sp>
      <p:sp>
        <p:nvSpPr>
          <p:cNvPr id="59" name="Text 22"/>
          <p:cNvSpPr txBox="1"/>
          <p:nvPr/>
        </p:nvSpPr>
        <p:spPr>
          <a:xfrm>
            <a:off x="4983479" y="2818492"/>
            <a:ext cx="3474720" cy="1038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500"/>
              </a:lnSpc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Boston 311 Open Data Portal</a:t>
            </a:r>
          </a:p>
          <a:p>
            <a:pPr>
              <a:lnSpc>
                <a:spcPts val="1500"/>
              </a:lnSpc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(2015-2019)</a:t>
            </a:r>
          </a:p>
          <a:p>
            <a:pPr>
              <a:lnSpc>
                <a:spcPts val="1500"/>
              </a:lnSpc>
              <a:defRPr sz="1200"/>
            </a:pPr>
            <a:endParaRPr/>
          </a:p>
          <a:p>
            <a:pPr>
              <a:lnSpc>
                <a:spcPts val="1500"/>
              </a:lnSpc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U.S. Census Bureau</a:t>
            </a:r>
          </a:p>
          <a:p>
            <a:pPr>
              <a:lnSpc>
                <a:spcPts val="1500"/>
              </a:lnSpc>
              <a:defRPr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Population estimates by neighborhood</a:t>
            </a:r>
          </a:p>
        </p:txBody>
      </p:sp>
      <p:sp>
        <p:nvSpPr>
          <p:cNvPr id="60" name="Text 23"/>
          <p:cNvSpPr txBox="1"/>
          <p:nvPr/>
        </p:nvSpPr>
        <p:spPr>
          <a:xfrm>
            <a:off x="4983479" y="3912383"/>
            <a:ext cx="347472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Analysis Scope</a:t>
            </a:r>
          </a:p>
        </p:txBody>
      </p:sp>
      <p:sp>
        <p:nvSpPr>
          <p:cNvPr id="61" name="Text 24"/>
          <p:cNvSpPr txBox="1"/>
          <p:nvPr/>
        </p:nvSpPr>
        <p:spPr>
          <a:xfrm>
            <a:off x="4983479" y="4174927"/>
            <a:ext cx="3474720" cy="748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1300"/>
              </a:lnSpc>
              <a:defRPr sz="11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Non-emergency service requests:</a:t>
            </a:r>
          </a:p>
          <a:p>
            <a:pPr algn="ctr">
              <a:lnSpc>
                <a:spcPts val="1300"/>
              </a:lnSpc>
              <a:defRPr sz="11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Infrastructure, noise complaints,</a:t>
            </a:r>
          </a:p>
          <a:p>
            <a:pPr algn="ctr">
              <a:lnSpc>
                <a:spcPts val="1300"/>
              </a:lnSpc>
              <a:defRPr sz="11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waste management, street repairs,</a:t>
            </a:r>
          </a:p>
          <a:p>
            <a:pPr algn="ctr">
              <a:lnSpc>
                <a:spcPts val="1300"/>
              </a:lnSpc>
              <a:defRPr sz="11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and other urban services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0"/>
          <p:cNvSpPr txBox="1"/>
          <p:nvPr/>
        </p:nvSpPr>
        <p:spPr>
          <a:xfrm>
            <a:off x="914400" y="270509"/>
            <a:ext cx="77724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Data Preprocessing</a:t>
            </a:r>
          </a:p>
        </p:txBody>
      </p:sp>
      <p:sp>
        <p:nvSpPr>
          <p:cNvPr id="65" name="Shape 1"/>
          <p:cNvSpPr/>
          <p:nvPr/>
        </p:nvSpPr>
        <p:spPr>
          <a:xfrm>
            <a:off x="457200" y="1097280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6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261872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ext 2"/>
          <p:cNvSpPr txBox="1"/>
          <p:nvPr/>
        </p:nvSpPr>
        <p:spPr>
          <a:xfrm>
            <a:off x="1097280" y="1171011"/>
            <a:ext cx="67665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00A896"/>
                </a:solidFill>
              </a:defRPr>
            </a:lvl1pPr>
          </a:lstStyle>
          <a:p>
            <a:r>
              <a:t>1. Handling Missing Values</a:t>
            </a:r>
          </a:p>
        </p:txBody>
      </p:sp>
      <p:sp>
        <p:nvSpPr>
          <p:cNvPr id="68" name="Text 3"/>
          <p:cNvSpPr txBox="1"/>
          <p:nvPr/>
        </p:nvSpPr>
        <p:spPr>
          <a:xfrm>
            <a:off x="1097279" y="1494335"/>
            <a:ext cx="7315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5A5A"/>
                </a:solidFill>
              </a:defRPr>
            </a:lvl1pPr>
          </a:lstStyle>
          <a:p>
            <a:r>
              <a:t>Dataset was complete with no missing values. Verified data quality using df.isnull().sum().</a:t>
            </a:r>
          </a:p>
        </p:txBody>
      </p:sp>
      <p:sp>
        <p:nvSpPr>
          <p:cNvPr id="69" name="Shape 4"/>
          <p:cNvSpPr/>
          <p:nvPr/>
        </p:nvSpPr>
        <p:spPr>
          <a:xfrm>
            <a:off x="457200" y="1965960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70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130551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Text 5"/>
          <p:cNvSpPr txBox="1"/>
          <p:nvPr/>
        </p:nvSpPr>
        <p:spPr>
          <a:xfrm>
            <a:off x="1097280" y="2039691"/>
            <a:ext cx="67665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028090"/>
                </a:solidFill>
              </a:defRPr>
            </a:lvl1pPr>
          </a:lstStyle>
          <a:p>
            <a:r>
              <a:t>2. Encoding Categorical Features</a:t>
            </a:r>
          </a:p>
        </p:txBody>
      </p:sp>
      <p:sp>
        <p:nvSpPr>
          <p:cNvPr id="72" name="Text 6"/>
          <p:cNvSpPr txBox="1"/>
          <p:nvPr/>
        </p:nvSpPr>
        <p:spPr>
          <a:xfrm>
            <a:off x="1097279" y="2363015"/>
            <a:ext cx="7315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5A5A"/>
                </a:solidFill>
              </a:defRPr>
            </a:lvl1pPr>
          </a:lstStyle>
          <a:p>
            <a:r>
              <a:t>Applied Label Encoding to Sex, Diet, and Age Group. Binary features (Diabetes, Smoking, etc.) kept as 0/1.</a:t>
            </a:r>
          </a:p>
        </p:txBody>
      </p:sp>
      <p:sp>
        <p:nvSpPr>
          <p:cNvPr id="73" name="Shape 7"/>
          <p:cNvSpPr/>
          <p:nvPr/>
        </p:nvSpPr>
        <p:spPr>
          <a:xfrm>
            <a:off x="457200" y="2834639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74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" y="2999232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ext 8"/>
          <p:cNvSpPr txBox="1"/>
          <p:nvPr/>
        </p:nvSpPr>
        <p:spPr>
          <a:xfrm>
            <a:off x="1097280" y="2908371"/>
            <a:ext cx="67665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6D2E46"/>
                </a:solidFill>
              </a:defRPr>
            </a:lvl1pPr>
          </a:lstStyle>
          <a:p>
            <a:r>
              <a:t>3. Feature Engineering</a:t>
            </a:r>
          </a:p>
        </p:txBody>
      </p:sp>
      <p:sp>
        <p:nvSpPr>
          <p:cNvPr id="76" name="Text 9"/>
          <p:cNvSpPr txBox="1"/>
          <p:nvPr/>
        </p:nvSpPr>
        <p:spPr>
          <a:xfrm>
            <a:off x="1097279" y="3231695"/>
            <a:ext cx="7315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5A5A"/>
                </a:solidFill>
              </a:defRPr>
            </a:lvl1pPr>
          </a:lstStyle>
          <a:p>
            <a:r>
              <a:t>Split Blood Pressure into Systolic BP and Diastolic BP for better model interpretability.</a:t>
            </a:r>
          </a:p>
        </p:txBody>
      </p:sp>
      <p:sp>
        <p:nvSpPr>
          <p:cNvPr id="77" name="Shape 10"/>
          <p:cNvSpPr/>
          <p:nvPr/>
        </p:nvSpPr>
        <p:spPr>
          <a:xfrm>
            <a:off x="457200" y="3703320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78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59" y="3867911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Text 11"/>
          <p:cNvSpPr txBox="1"/>
          <p:nvPr/>
        </p:nvSpPr>
        <p:spPr>
          <a:xfrm>
            <a:off x="1097280" y="3777051"/>
            <a:ext cx="67665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00A896"/>
                </a:solidFill>
              </a:defRPr>
            </a:lvl1pPr>
          </a:lstStyle>
          <a:p>
            <a:r>
              <a:t>4. Feature Scaling</a:t>
            </a:r>
          </a:p>
        </p:txBody>
      </p:sp>
      <p:sp>
        <p:nvSpPr>
          <p:cNvPr id="80" name="Text 12"/>
          <p:cNvSpPr txBox="1"/>
          <p:nvPr/>
        </p:nvSpPr>
        <p:spPr>
          <a:xfrm>
            <a:off x="1097279" y="4100375"/>
            <a:ext cx="7315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5A5A"/>
                </a:solidFill>
              </a:defRPr>
            </a:lvl1pPr>
          </a:lstStyle>
          <a:p>
            <a:r>
              <a:t>StandardScaler applied to 11 continuous features. Binary features passed through unchanged.</a:t>
            </a:r>
          </a:p>
        </p:txBody>
      </p:sp>
      <p:sp>
        <p:nvSpPr>
          <p:cNvPr id="81" name="Shape 13"/>
          <p:cNvSpPr/>
          <p:nvPr/>
        </p:nvSpPr>
        <p:spPr>
          <a:xfrm>
            <a:off x="1828800" y="4526279"/>
            <a:ext cx="5486400" cy="54864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2" name="Text 14"/>
          <p:cNvSpPr txBox="1"/>
          <p:nvPr/>
        </p:nvSpPr>
        <p:spPr>
          <a:xfrm>
            <a:off x="1965959" y="4569899"/>
            <a:ext cx="521208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FFFFFF"/>
                </a:solidFill>
              </a:defRPr>
            </a:lvl1pPr>
          </a:lstStyle>
          <a:p>
            <a:r>
              <a:t>Train-Test Split: 80% Training (7,010 samples) / 20% Testing (1,753 samples)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 0"/>
          <p:cNvSpPr txBox="1"/>
          <p:nvPr/>
        </p:nvSpPr>
        <p:spPr>
          <a:xfrm>
            <a:off x="914400" y="270509"/>
            <a:ext cx="77724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Target Variable Distribution</a:t>
            </a:r>
          </a:p>
        </p:txBody>
      </p:sp>
      <p:sp>
        <p:nvSpPr>
          <p:cNvPr id="86" name="Shape 1"/>
          <p:cNvSpPr/>
          <p:nvPr/>
        </p:nvSpPr>
        <p:spPr>
          <a:xfrm>
            <a:off x="5669279" y="1188719"/>
            <a:ext cx="3017521" cy="31089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7" name="Text 2"/>
          <p:cNvSpPr txBox="1"/>
          <p:nvPr/>
        </p:nvSpPr>
        <p:spPr>
          <a:xfrm>
            <a:off x="5897879" y="1387936"/>
            <a:ext cx="25603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1E2761"/>
                </a:solidFill>
              </a:defRPr>
            </a:lvl1pPr>
          </a:lstStyle>
          <a:p>
            <a:r>
              <a:t>Key Observations</a:t>
            </a:r>
          </a:p>
        </p:txBody>
      </p:sp>
      <p:sp>
        <p:nvSpPr>
          <p:cNvPr id="88" name="Text 3"/>
          <p:cNvSpPr txBox="1"/>
          <p:nvPr/>
        </p:nvSpPr>
        <p:spPr>
          <a:xfrm>
            <a:off x="5989320" y="1766746"/>
            <a:ext cx="2468881" cy="241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Class Distribution</a:t>
            </a:r>
          </a:p>
          <a:p>
            <a:pPr>
              <a:defRPr sz="1200"/>
            </a:pPr>
            <a:r>
              <a:t>• Low Risk: 5,606 (64%)</a:t>
            </a:r>
            <a:endParaRPr sz="1400"/>
          </a:p>
          <a:p>
            <a:pPr>
              <a:defRPr sz="1200"/>
            </a:pPr>
            <a:r>
              <a:t>• High Risk: 3,157 (36%)</a:t>
            </a:r>
            <a:endParaRPr sz="1400"/>
          </a:p>
          <a:p>
            <a:pPr>
              <a:defRPr sz="1400"/>
            </a:pPr>
            <a:endParaRPr sz="1400"/>
          </a:p>
          <a:p>
            <a:pPr>
              <a:defRPr sz="1400" b="1">
                <a:solidFill>
                  <a:srgbClr val="6D2E46"/>
                </a:solidFill>
              </a:defRPr>
            </a:pPr>
            <a:r>
              <a:t>Imbalance Impact</a:t>
            </a:r>
          </a:p>
          <a:p>
            <a:pPr>
              <a:defRPr sz="1100"/>
            </a:pPr>
            <a:r>
              <a:t>Moderate class imbalance may affect model recall for high-risk patients. Balanced enough to avoid severe bias.</a:t>
            </a:r>
            <a:endParaRPr sz="1400"/>
          </a:p>
          <a:p>
            <a:pPr>
              <a:defRPr sz="1400"/>
            </a:pPr>
            <a:endParaRPr sz="1400"/>
          </a:p>
          <a:p>
            <a:pPr>
              <a:defRPr sz="1400" b="1">
                <a:solidFill>
                  <a:srgbClr val="00A896"/>
                </a:solidFill>
              </a:defRPr>
            </a:pPr>
            <a:r>
              <a:t>Modeling Strategy</a:t>
            </a:r>
          </a:p>
          <a:p>
            <a:pPr>
              <a:defRPr sz="1100"/>
            </a:pPr>
            <a:r>
              <a:t>Used stratified sampling in train-test split to maintain distribution in both sets.</a:t>
            </a:r>
          </a:p>
        </p:txBody>
      </p:sp>
      <p:pic>
        <p:nvPicPr>
          <p:cNvPr id="89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7" y="1423777"/>
            <a:ext cx="5480743" cy="23364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0"/>
          <p:cNvSpPr txBox="1"/>
          <p:nvPr/>
        </p:nvSpPr>
        <p:spPr>
          <a:xfrm>
            <a:off x="914400" y="270509"/>
            <a:ext cx="77724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Correlation Analysis</a:t>
            </a:r>
          </a:p>
        </p:txBody>
      </p:sp>
      <p:sp>
        <p:nvSpPr>
          <p:cNvPr id="93" name="Text 1"/>
          <p:cNvSpPr txBox="1"/>
          <p:nvPr/>
        </p:nvSpPr>
        <p:spPr>
          <a:xfrm>
            <a:off x="5989320" y="356870"/>
            <a:ext cx="21945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400" i="1">
                <a:solidFill>
                  <a:srgbClr val="6D2E46"/>
                </a:solidFill>
              </a:defRPr>
            </a:lvl1pPr>
          </a:lstStyle>
          <a:p>
            <a:r>
              <a:t>⭐ Primary EDA Slide</a:t>
            </a:r>
          </a:p>
        </p:txBody>
      </p:sp>
      <p:sp>
        <p:nvSpPr>
          <p:cNvPr id="94" name="Shape 2"/>
          <p:cNvSpPr/>
          <p:nvPr/>
        </p:nvSpPr>
        <p:spPr>
          <a:xfrm>
            <a:off x="238982" y="899828"/>
            <a:ext cx="4379984" cy="4143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5" name="Text 3"/>
          <p:cNvSpPr txBox="1"/>
          <p:nvPr/>
        </p:nvSpPr>
        <p:spPr>
          <a:xfrm>
            <a:off x="235287" y="3700673"/>
            <a:ext cx="36576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E2761"/>
                </a:solidFill>
              </a:defRPr>
            </a:lvl1pPr>
          </a:lstStyle>
          <a:p>
            <a:r>
              <a:t>Features Most Related to Heart Attack Risk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305609" y="3959814"/>
            <a:ext cx="3870898" cy="1044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 b="1">
                <a:solidFill>
                  <a:srgbClr val="6D2E46"/>
                </a:solidFill>
              </a:defRPr>
            </a:pPr>
            <a:r>
              <a:t>Positive Correlations (↑ Risk)</a:t>
            </a:r>
          </a:p>
          <a:p>
            <a:pPr>
              <a:defRPr sz="900"/>
            </a:pPr>
            <a:r>
              <a:t>• Cholesterol Level</a:t>
            </a:r>
          </a:p>
          <a:p>
            <a:pPr>
              <a:defRPr sz="900"/>
            </a:pPr>
            <a:r>
              <a:t>• Blood Pressure (Systolic &amp; Diastolic)</a:t>
            </a:r>
          </a:p>
          <a:p>
            <a:pPr>
              <a:defRPr sz="900"/>
            </a:pPr>
            <a:r>
              <a:t>• BMI and Obesity</a:t>
            </a:r>
          </a:p>
          <a:p>
            <a:pPr>
              <a:defRPr sz="900"/>
            </a:pPr>
            <a:r>
              <a:t>• Triglycerides</a:t>
            </a:r>
          </a:p>
          <a:p>
            <a:pPr>
              <a:defRPr sz="900"/>
            </a:pPr>
            <a:r>
              <a:t>• Sedentary Hours Per Day</a:t>
            </a:r>
          </a:p>
        </p:txBody>
      </p:sp>
      <p:sp>
        <p:nvSpPr>
          <p:cNvPr id="97" name="Shape 5"/>
          <p:cNvSpPr/>
          <p:nvPr/>
        </p:nvSpPr>
        <p:spPr>
          <a:xfrm>
            <a:off x="4754879" y="915166"/>
            <a:ext cx="4379984" cy="41132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8" name="Text 6"/>
          <p:cNvSpPr txBox="1"/>
          <p:nvPr/>
        </p:nvSpPr>
        <p:spPr>
          <a:xfrm>
            <a:off x="4983479" y="1328912"/>
            <a:ext cx="3474720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 b="1">
                <a:solidFill>
                  <a:srgbClr val="1E2761"/>
                </a:solidFill>
              </a:defRPr>
            </a:lvl1pPr>
          </a:lstStyle>
          <a:p>
            <a:r>
              <a:t>How Correlation Guided Modeling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4983480" y="1870226"/>
            <a:ext cx="3474719" cy="2803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1. Feature Selection</a:t>
            </a:r>
          </a:p>
          <a:p>
            <a:pPr>
              <a:defRPr sz="1100"/>
            </a:pPr>
            <a:r>
              <a:t>Included all 26 features as even weak correlations may interact in tree-based models.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028090"/>
                </a:solidFill>
              </a:defRPr>
            </a:pPr>
            <a:r>
              <a:t>2. Feature Engineering</a:t>
            </a:r>
          </a:p>
          <a:p>
            <a:pPr>
              <a:defRPr sz="1100"/>
            </a:pPr>
            <a:r>
              <a:t>Split Blood Pressure into Systolic and Diastolic components for better granularity.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028090"/>
                </a:solidFill>
              </a:defRPr>
            </a:pPr>
            <a:r>
              <a:t>3. Model Selection</a:t>
            </a:r>
          </a:p>
          <a:p>
            <a:pPr>
              <a:defRPr sz="1100"/>
            </a:pPr>
            <a:r>
              <a:t>Chose tree-based models (RF, GB, XGB, etc.) to capture non-linear relationships and feature interactions.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028090"/>
                </a:solidFill>
              </a:defRPr>
            </a:pPr>
            <a:r>
              <a:t>4. Scaling Strategy</a:t>
            </a:r>
          </a:p>
          <a:p>
            <a:pPr>
              <a:defRPr sz="1100"/>
            </a:pPr>
            <a:r>
              <a:t>Standardized continuous features while preserving binary indicators.</a:t>
            </a:r>
          </a:p>
        </p:txBody>
      </p:sp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5" y="1001497"/>
            <a:ext cx="3335478" cy="26883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0"/>
          <p:cNvSpPr txBox="1"/>
          <p:nvPr/>
        </p:nvSpPr>
        <p:spPr>
          <a:xfrm>
            <a:off x="914400" y="302259"/>
            <a:ext cx="77724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3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Machine Learning Models Used</a:t>
            </a:r>
          </a:p>
        </p:txBody>
      </p:sp>
      <p:sp>
        <p:nvSpPr>
          <p:cNvPr id="104" name="Shape 1"/>
          <p:cNvSpPr/>
          <p:nvPr/>
        </p:nvSpPr>
        <p:spPr>
          <a:xfrm>
            <a:off x="457200" y="1097280"/>
            <a:ext cx="3840480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0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2344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2"/>
          <p:cNvSpPr txBox="1"/>
          <p:nvPr/>
        </p:nvSpPr>
        <p:spPr>
          <a:xfrm>
            <a:off x="1097280" y="1164021"/>
            <a:ext cx="30175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Decision Tree</a:t>
            </a:r>
          </a:p>
        </p:txBody>
      </p:sp>
      <p:sp>
        <p:nvSpPr>
          <p:cNvPr id="107" name="Text 3"/>
          <p:cNvSpPr txBox="1"/>
          <p:nvPr/>
        </p:nvSpPr>
        <p:spPr>
          <a:xfrm>
            <a:off x="1097280" y="1423338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A5A5A"/>
                </a:solidFill>
              </a:defRPr>
            </a:lvl1pPr>
          </a:lstStyle>
          <a:p>
            <a:r>
              <a:t>Simple interpretable tree structure</a:t>
            </a:r>
          </a:p>
        </p:txBody>
      </p:sp>
      <p:sp>
        <p:nvSpPr>
          <p:cNvPr id="108" name="Shape 4"/>
          <p:cNvSpPr/>
          <p:nvPr/>
        </p:nvSpPr>
        <p:spPr>
          <a:xfrm>
            <a:off x="4572000" y="1097280"/>
            <a:ext cx="3840480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09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2344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5"/>
          <p:cNvSpPr txBox="1"/>
          <p:nvPr/>
        </p:nvSpPr>
        <p:spPr>
          <a:xfrm>
            <a:off x="5212079" y="1164021"/>
            <a:ext cx="30175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Random Forest</a:t>
            </a:r>
          </a:p>
        </p:txBody>
      </p:sp>
      <p:sp>
        <p:nvSpPr>
          <p:cNvPr id="111" name="Text 6"/>
          <p:cNvSpPr txBox="1"/>
          <p:nvPr/>
        </p:nvSpPr>
        <p:spPr>
          <a:xfrm>
            <a:off x="5212079" y="1423338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A5A5A"/>
                </a:solidFill>
              </a:defRPr>
            </a:lvl1pPr>
          </a:lstStyle>
          <a:p>
            <a:r>
              <a:t>Ensemble of 100-200 decision trees</a:t>
            </a:r>
          </a:p>
        </p:txBody>
      </p:sp>
      <p:sp>
        <p:nvSpPr>
          <p:cNvPr id="112" name="Shape 7"/>
          <p:cNvSpPr/>
          <p:nvPr/>
        </p:nvSpPr>
        <p:spPr>
          <a:xfrm>
            <a:off x="457200" y="1783079"/>
            <a:ext cx="3840480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13" name="Image 3" descr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9202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8"/>
          <p:cNvSpPr txBox="1"/>
          <p:nvPr/>
        </p:nvSpPr>
        <p:spPr>
          <a:xfrm>
            <a:off x="1097280" y="1849822"/>
            <a:ext cx="3017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Gradient Boosting</a:t>
            </a:r>
          </a:p>
        </p:txBody>
      </p:sp>
      <p:sp>
        <p:nvSpPr>
          <p:cNvPr id="115" name="Text 9"/>
          <p:cNvSpPr txBox="1"/>
          <p:nvPr/>
        </p:nvSpPr>
        <p:spPr>
          <a:xfrm>
            <a:off x="1097280" y="2109138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A5A5A"/>
                </a:solidFill>
              </a:defRPr>
            </a:lvl1pPr>
          </a:lstStyle>
          <a:p>
            <a:r>
              <a:t>Sequential tree-based boosting (sklearn)</a:t>
            </a:r>
          </a:p>
        </p:txBody>
      </p:sp>
      <p:sp>
        <p:nvSpPr>
          <p:cNvPr id="116" name="Shape 10"/>
          <p:cNvSpPr/>
          <p:nvPr/>
        </p:nvSpPr>
        <p:spPr>
          <a:xfrm>
            <a:off x="4572000" y="1783079"/>
            <a:ext cx="3840480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17" name="Image 4" descr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9202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 11"/>
          <p:cNvSpPr txBox="1"/>
          <p:nvPr/>
        </p:nvSpPr>
        <p:spPr>
          <a:xfrm>
            <a:off x="5212079" y="1849822"/>
            <a:ext cx="3017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LightGBM</a:t>
            </a:r>
          </a:p>
        </p:txBody>
      </p:sp>
      <p:sp>
        <p:nvSpPr>
          <p:cNvPr id="119" name="Text 12"/>
          <p:cNvSpPr txBox="1"/>
          <p:nvPr/>
        </p:nvSpPr>
        <p:spPr>
          <a:xfrm>
            <a:off x="5212079" y="2109138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A5A5A"/>
                </a:solidFill>
              </a:defRPr>
            </a:lvl1pPr>
          </a:lstStyle>
          <a:p>
            <a:r>
              <a:t>Fast gradient boosting framework</a:t>
            </a:r>
          </a:p>
        </p:txBody>
      </p:sp>
      <p:sp>
        <p:nvSpPr>
          <p:cNvPr id="120" name="Shape 13"/>
          <p:cNvSpPr/>
          <p:nvPr/>
        </p:nvSpPr>
        <p:spPr>
          <a:xfrm>
            <a:off x="457200" y="2468879"/>
            <a:ext cx="3840480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21" name="Image 5" descr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6060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 14"/>
          <p:cNvSpPr txBox="1"/>
          <p:nvPr/>
        </p:nvSpPr>
        <p:spPr>
          <a:xfrm>
            <a:off x="1097280" y="2535622"/>
            <a:ext cx="3017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CatBoost</a:t>
            </a:r>
          </a:p>
        </p:txBody>
      </p:sp>
      <p:sp>
        <p:nvSpPr>
          <p:cNvPr id="123" name="Text 15"/>
          <p:cNvSpPr txBox="1"/>
          <p:nvPr/>
        </p:nvSpPr>
        <p:spPr>
          <a:xfrm>
            <a:off x="1097280" y="2794938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A5A5A"/>
                </a:solidFill>
              </a:defRPr>
            </a:lvl1pPr>
          </a:lstStyle>
          <a:p>
            <a:r>
              <a:t>Optimized for categorical features</a:t>
            </a:r>
          </a:p>
        </p:txBody>
      </p:sp>
      <p:sp>
        <p:nvSpPr>
          <p:cNvPr id="124" name="Shape 16"/>
          <p:cNvSpPr/>
          <p:nvPr/>
        </p:nvSpPr>
        <p:spPr>
          <a:xfrm>
            <a:off x="4572000" y="2468879"/>
            <a:ext cx="3840480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25" name="Image 6" descr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26060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 17"/>
          <p:cNvSpPr txBox="1"/>
          <p:nvPr/>
        </p:nvSpPr>
        <p:spPr>
          <a:xfrm>
            <a:off x="5212079" y="2535622"/>
            <a:ext cx="3017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XGBoost</a:t>
            </a:r>
          </a:p>
        </p:txBody>
      </p:sp>
      <p:sp>
        <p:nvSpPr>
          <p:cNvPr id="127" name="Text 18"/>
          <p:cNvSpPr txBox="1"/>
          <p:nvPr/>
        </p:nvSpPr>
        <p:spPr>
          <a:xfrm>
            <a:off x="5212079" y="2794938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A5A5A"/>
                </a:solidFill>
              </a:defRPr>
            </a:lvl1pPr>
          </a:lstStyle>
          <a:p>
            <a:r>
              <a:t>Extreme gradient boosting</a:t>
            </a:r>
          </a:p>
        </p:txBody>
      </p:sp>
      <p:sp>
        <p:nvSpPr>
          <p:cNvPr id="128" name="Shape 19"/>
          <p:cNvSpPr/>
          <p:nvPr/>
        </p:nvSpPr>
        <p:spPr>
          <a:xfrm>
            <a:off x="457200" y="4114800"/>
            <a:ext cx="4114800" cy="914400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9" name="Text 20"/>
          <p:cNvSpPr txBox="1"/>
          <p:nvPr/>
        </p:nvSpPr>
        <p:spPr>
          <a:xfrm>
            <a:off x="685799" y="4179746"/>
            <a:ext cx="3657601" cy="784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Training Approach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Baseline models trained first</a:t>
            </a:r>
            <a:endParaRPr sz="1500"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GridSearchCV for hyperparameter tuning</a:t>
            </a:r>
            <a:endParaRPr sz="1500"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3-5 fold cross-validation</a:t>
            </a:r>
          </a:p>
        </p:txBody>
      </p:sp>
      <p:sp>
        <p:nvSpPr>
          <p:cNvPr id="130" name="Shape 21"/>
          <p:cNvSpPr/>
          <p:nvPr/>
        </p:nvSpPr>
        <p:spPr>
          <a:xfrm>
            <a:off x="4572000" y="4114800"/>
            <a:ext cx="4114800" cy="914400"/>
          </a:xfrm>
          <a:prstGeom prst="rect">
            <a:avLst/>
          </a:prstGeom>
          <a:solidFill>
            <a:srgbClr val="6D2E46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1" name="Text 22"/>
          <p:cNvSpPr txBox="1"/>
          <p:nvPr/>
        </p:nvSpPr>
        <p:spPr>
          <a:xfrm>
            <a:off x="4800600" y="4179746"/>
            <a:ext cx="3657600" cy="784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Evaluation Metrics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Accuracy, Precision, Recall, F1-Score</a:t>
            </a:r>
            <a:endParaRPr sz="1500"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ROC-AUC for probability assessment</a:t>
            </a:r>
            <a:endParaRPr sz="1500"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Confusion matrices for error analysis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/>
          <p:cNvSpPr txBox="1"/>
          <p:nvPr/>
        </p:nvSpPr>
        <p:spPr>
          <a:xfrm>
            <a:off x="914400" y="289559"/>
            <a:ext cx="77724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Model Performance Comparison</a:t>
            </a:r>
          </a:p>
        </p:txBody>
      </p:sp>
      <p:graphicFrame>
        <p:nvGraphicFramePr>
          <p:cNvPr id="135" name="Table 0"/>
          <p:cNvGraphicFramePr/>
          <p:nvPr/>
        </p:nvGraphicFramePr>
        <p:xfrm>
          <a:off x="457200" y="1097280"/>
          <a:ext cx="8229600" cy="230709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35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9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Decision Tree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0.5202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0.4132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0.7619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0.5355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0.5192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Random Forest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0.5430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0.4393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0.7169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0.5463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0.5347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Grad. Boosting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0.5618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0.4538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0.6931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0.5498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0.5490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9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LightGBM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0.5139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0.4063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0.7551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0.5292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0.5144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9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CatBoost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0.5487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0.4432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0.7097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0.5467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0.5371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9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XGBoost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0.4741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0.3854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0.8639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0.5335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/>
                        <a:t>0.4962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6" name="Shape 1"/>
          <p:cNvSpPr/>
          <p:nvPr/>
        </p:nvSpPr>
        <p:spPr>
          <a:xfrm>
            <a:off x="457200" y="3749040"/>
            <a:ext cx="8229600" cy="12344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7" name="Text 2"/>
          <p:cNvSpPr txBox="1"/>
          <p:nvPr/>
        </p:nvSpPr>
        <p:spPr>
          <a:xfrm>
            <a:off x="552053" y="3764279"/>
            <a:ext cx="777240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 b="1">
                <a:solidFill>
                  <a:srgbClr val="1E2761"/>
                </a:solidFill>
              </a:defRPr>
            </a:lvl1pPr>
          </a:lstStyle>
          <a:p>
            <a:r>
              <a:t>Key Performance Insights</a:t>
            </a:r>
          </a:p>
        </p:txBody>
      </p:sp>
      <p:sp>
        <p:nvSpPr>
          <p:cNvPr id="138" name="Text 3"/>
          <p:cNvSpPr txBox="1"/>
          <p:nvPr/>
        </p:nvSpPr>
        <p:spPr>
          <a:xfrm>
            <a:off x="643494" y="4002571"/>
            <a:ext cx="7589520" cy="92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🏆 </a:t>
            </a:r>
            <a:r>
              <a:t>Best Overall: </a:t>
            </a:r>
            <a:r>
              <a:rPr b="0">
                <a:solidFill>
                  <a:srgbClr val="5A5A5A"/>
                </a:solidFill>
              </a:rPr>
              <a:t>Gradient Boosting (Tuned) - Highest accuracy (56.18%), F1-score (0.5498), and ROC-AUC (0.5490)</a:t>
            </a:r>
          </a:p>
          <a:p>
            <a:pPr>
              <a:defRPr sz="1200" b="1">
                <a:solidFill>
                  <a:srgbClr val="00A896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⚡ </a:t>
            </a:r>
            <a:r>
              <a:t>Fastest: </a:t>
            </a:r>
            <a:r>
              <a:rPr b="0">
                <a:solidFill>
                  <a:srgbClr val="5A5A5A"/>
                </a:solidFill>
              </a:rPr>
              <a:t>LightGBM - Good balance of speed and performance for production deployment</a:t>
            </a:r>
          </a:p>
          <a:p>
            <a:pPr>
              <a:defRPr sz="1200" b="1">
                <a:solidFill>
                  <a:srgbClr val="6D2E46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⚠️ </a:t>
            </a:r>
            <a:r>
              <a:t>Highest Recall: </a:t>
            </a:r>
            <a:r>
              <a:rPr b="0">
                <a:solidFill>
                  <a:srgbClr val="5A5A5A"/>
                </a:solidFill>
              </a:rPr>
              <a:t>XGBoost (86.39%) - Best at identifying high-risk patients but with many false positives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 0"/>
          <p:cNvSpPr txBox="1"/>
          <p:nvPr/>
        </p:nvSpPr>
        <p:spPr>
          <a:xfrm>
            <a:off x="914400" y="270509"/>
            <a:ext cx="77724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Confusion Matrix Analysis</a:t>
            </a:r>
          </a:p>
        </p:txBody>
      </p:sp>
      <p:sp>
        <p:nvSpPr>
          <p:cNvPr id="142" name="Text 1"/>
          <p:cNvSpPr txBox="1"/>
          <p:nvPr/>
        </p:nvSpPr>
        <p:spPr>
          <a:xfrm>
            <a:off x="502919" y="90126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i="1">
                <a:solidFill>
                  <a:srgbClr val="028090"/>
                </a:solidFill>
              </a:defRPr>
            </a:lvl1pPr>
          </a:lstStyle>
          <a:p>
            <a:r>
              <a:t>Best Model: Gradient Boosting (Tuned)</a:t>
            </a:r>
          </a:p>
        </p:txBody>
      </p:sp>
      <p:graphicFrame>
        <p:nvGraphicFramePr>
          <p:cNvPr id="143" name="Table 0"/>
          <p:cNvGraphicFramePr/>
          <p:nvPr/>
        </p:nvGraphicFramePr>
        <p:xfrm>
          <a:off x="2202232" y="41179"/>
          <a:ext cx="2133600" cy="18288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0" marR="0" marT="0" marB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0" marR="0" marT="0" marB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0" marR="0" marT="0" marB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" name="Shape 2"/>
          <p:cNvSpPr/>
          <p:nvPr/>
        </p:nvSpPr>
        <p:spPr>
          <a:xfrm>
            <a:off x="457200" y="3383279"/>
            <a:ext cx="4114800" cy="1554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5" name="Text 3"/>
          <p:cNvSpPr txBox="1"/>
          <p:nvPr/>
        </p:nvSpPr>
        <p:spPr>
          <a:xfrm>
            <a:off x="685799" y="3518602"/>
            <a:ext cx="365760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Interpretation of Predictions</a:t>
            </a:r>
          </a:p>
        </p:txBody>
      </p:sp>
      <p:sp>
        <p:nvSpPr>
          <p:cNvPr id="146" name="Text 4"/>
          <p:cNvSpPr txBox="1"/>
          <p:nvPr/>
        </p:nvSpPr>
        <p:spPr>
          <a:xfrm>
            <a:off x="777239" y="4065445"/>
            <a:ext cx="3566161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• True Positives (437): </a:t>
            </a:r>
            <a:r>
              <a:rPr b="0">
                <a:solidFill>
                  <a:srgbClr val="5A5A5A"/>
                </a:solidFill>
              </a:rPr>
              <a:t>Correctly identified high-risk patients</a:t>
            </a:r>
          </a:p>
          <a:p>
            <a:pPr>
              <a:defRPr sz="1100" b="1">
                <a:solidFill>
                  <a:srgbClr val="00A896"/>
                </a:solidFill>
              </a:defRPr>
            </a:pPr>
            <a:r>
              <a:t>• True Negatives (747): </a:t>
            </a:r>
            <a:r>
              <a:rPr b="0">
                <a:solidFill>
                  <a:srgbClr val="5A5A5A"/>
                </a:solidFill>
              </a:rPr>
              <a:t>Correctly identified low-risk patients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• Recall: 69.06% of actual high-risk cases detected</a:t>
            </a:r>
          </a:p>
        </p:txBody>
      </p:sp>
      <p:sp>
        <p:nvSpPr>
          <p:cNvPr id="147" name="Shape 5"/>
          <p:cNvSpPr/>
          <p:nvPr/>
        </p:nvSpPr>
        <p:spPr>
          <a:xfrm>
            <a:off x="4572000" y="3383279"/>
            <a:ext cx="4114800" cy="1554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8" name="Text 6"/>
          <p:cNvSpPr txBox="1"/>
          <p:nvPr/>
        </p:nvSpPr>
        <p:spPr>
          <a:xfrm>
            <a:off x="4800599" y="3518602"/>
            <a:ext cx="365760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False Positives vs False Negatives</a:t>
            </a:r>
          </a:p>
        </p:txBody>
      </p:sp>
      <p:sp>
        <p:nvSpPr>
          <p:cNvPr id="149" name="Text 7"/>
          <p:cNvSpPr txBox="1"/>
          <p:nvPr/>
        </p:nvSpPr>
        <p:spPr>
          <a:xfrm>
            <a:off x="4709160" y="3982895"/>
            <a:ext cx="3840481" cy="721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 b="1">
                <a:solidFill>
                  <a:srgbClr val="6D2E46"/>
                </a:solidFill>
              </a:defRPr>
            </a:pPr>
            <a:r>
              <a:t>• False Positives (373): </a:t>
            </a:r>
            <a:r>
              <a:rPr b="0">
                <a:solidFill>
                  <a:srgbClr val="5A5A5A"/>
                </a:solidFill>
              </a:rPr>
              <a:t>Low-risk flagged as high-risk - leads to unnecessary tests</a:t>
            </a:r>
          </a:p>
          <a:p>
            <a:pPr>
              <a:defRPr sz="1100" b="1">
                <a:solidFill>
                  <a:srgbClr val="6D2E46"/>
                </a:solidFill>
              </a:defRPr>
            </a:pPr>
            <a:r>
              <a:t>• False Negatives (196): </a:t>
            </a:r>
            <a:r>
              <a:rPr b="0">
                <a:solidFill>
                  <a:srgbClr val="5A5A5A"/>
                </a:solidFill>
              </a:rPr>
              <a:t>High-risk missed - more critical error in medical context</a:t>
            </a:r>
          </a:p>
        </p:txBody>
      </p:sp>
      <p:pic>
        <p:nvPicPr>
          <p:cNvPr id="150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14" y="1248438"/>
            <a:ext cx="7772401" cy="208386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51" name="Table 2"/>
          <p:cNvGraphicFramePr/>
          <p:nvPr/>
        </p:nvGraphicFramePr>
        <p:xfrm>
          <a:off x="5901006" y="5313927"/>
          <a:ext cx="2133600" cy="18288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/>
                    </a:p>
                  </a:txBody>
                  <a:tcPr marL="45720" marR="45720" anchor="ctr" horzOverflow="overflow">
                    <a:lnL w="25400">
                      <a:solidFill>
                        <a:srgbClr val="999999"/>
                      </a:solidFill>
                    </a:lnL>
                    <a:lnR w="25400">
                      <a:solidFill>
                        <a:srgbClr val="999999"/>
                      </a:solidFill>
                    </a:lnR>
                    <a:lnT w="25400">
                      <a:solidFill>
                        <a:srgbClr val="999999"/>
                      </a:solidFill>
                    </a:lnT>
                    <a:lnB w="25400">
                      <a:solidFill>
                        <a:srgbClr val="99999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endParaRPr/>
                    </a:p>
                  </a:txBody>
                  <a:tcPr marL="45720" marR="45720" anchor="ctr" horzOverflow="overflow">
                    <a:lnL w="25400">
                      <a:solidFill>
                        <a:srgbClr val="999999"/>
                      </a:solidFill>
                    </a:lnL>
                    <a:lnR w="25400">
                      <a:solidFill>
                        <a:srgbClr val="999999"/>
                      </a:solidFill>
                    </a:lnR>
                    <a:lnT w="25400">
                      <a:solidFill>
                        <a:srgbClr val="999999"/>
                      </a:solidFill>
                    </a:lnT>
                    <a:lnB w="25400">
                      <a:solidFill>
                        <a:srgbClr val="99999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endParaRPr/>
                    </a:p>
                  </a:txBody>
                  <a:tcPr marL="45720" marR="45720" anchor="ctr" horzOverflow="overflow">
                    <a:lnL w="25400">
                      <a:solidFill>
                        <a:srgbClr val="999999"/>
                      </a:solidFill>
                    </a:lnL>
                    <a:lnR w="25400">
                      <a:solidFill>
                        <a:srgbClr val="999999"/>
                      </a:solidFill>
                    </a:lnR>
                    <a:lnT w="25400">
                      <a:solidFill>
                        <a:srgbClr val="999999"/>
                      </a:solidFill>
                    </a:lnT>
                    <a:lnB w="25400">
                      <a:solidFill>
                        <a:srgbClr val="99999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 txBox="1"/>
          <p:nvPr/>
        </p:nvSpPr>
        <p:spPr>
          <a:xfrm>
            <a:off x="428624" y="428625"/>
            <a:ext cx="7872387" cy="75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sz="2600" b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Lifestyle Factors Dominate Feature Importance Rankings Across All Models</a:t>
            </a:r>
          </a:p>
        </p:txBody>
      </p:sp>
      <p:sp>
        <p:nvSpPr>
          <p:cNvPr id="199" name="Shape 2"/>
          <p:cNvSpPr/>
          <p:nvPr/>
        </p:nvSpPr>
        <p:spPr>
          <a:xfrm>
            <a:off x="4919237" y="1468709"/>
            <a:ext cx="12701" cy="3246166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200" name="Text 27"/>
          <p:cNvSpPr txBox="1"/>
          <p:nvPr/>
        </p:nvSpPr>
        <p:spPr>
          <a:xfrm>
            <a:off x="5500659" y="1401469"/>
            <a:ext cx="1835027" cy="242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Behavioral Impact</a:t>
            </a:r>
          </a:p>
        </p:txBody>
      </p:sp>
      <p:sp>
        <p:nvSpPr>
          <p:cNvPr id="201" name="Text 28"/>
          <p:cNvSpPr txBox="1"/>
          <p:nvPr/>
        </p:nvSpPr>
        <p:spPr>
          <a:xfrm>
            <a:off x="5500659" y="1737862"/>
            <a:ext cx="3214690" cy="398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Exercise</a:t>
            </a:r>
            <a:r>
              <a:rPr b="0">
                <a:solidFill>
                  <a:srgbClr val="475569"/>
                </a:solidFill>
              </a:rPr>
              <a:t> and </a:t>
            </a:r>
            <a:r>
              <a:t>Sedentary Hours</a:t>
            </a:r>
            <a:r>
              <a:rPr b="0">
                <a:solidFill>
                  <a:srgbClr val="475569"/>
                </a:solidFill>
              </a:rPr>
              <a:t> rank top, showing modifiable habits drive risk.</a:t>
            </a:r>
          </a:p>
        </p:txBody>
      </p:sp>
      <p:sp>
        <p:nvSpPr>
          <p:cNvPr id="202" name="Text 29"/>
          <p:cNvSpPr txBox="1"/>
          <p:nvPr/>
        </p:nvSpPr>
        <p:spPr>
          <a:xfrm>
            <a:off x="5500659" y="2388658"/>
            <a:ext cx="2114527" cy="242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Socioeconomic Signal</a:t>
            </a:r>
          </a:p>
        </p:txBody>
      </p:sp>
      <p:sp>
        <p:nvSpPr>
          <p:cNvPr id="203" name="Text 30"/>
          <p:cNvSpPr txBox="1"/>
          <p:nvPr/>
        </p:nvSpPr>
        <p:spPr>
          <a:xfrm>
            <a:off x="5500659" y="2687838"/>
            <a:ext cx="3214690" cy="60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Income ranks second (105.9), acting as a proxy for access, raising concerns about </a:t>
            </a:r>
            <a:r>
              <a:rPr b="1">
                <a:solidFill>
                  <a:srgbClr val="DC2626"/>
                </a:solidFill>
              </a:rPr>
              <a:t>algorithmic bias</a:t>
            </a:r>
            <a:r>
              <a:t>.</a:t>
            </a:r>
          </a:p>
        </p:txBody>
      </p:sp>
      <p:sp>
        <p:nvSpPr>
          <p:cNvPr id="204" name="Text 31"/>
          <p:cNvSpPr txBox="1"/>
          <p:nvPr/>
        </p:nvSpPr>
        <p:spPr>
          <a:xfrm>
            <a:off x="5500659" y="3582156"/>
            <a:ext cx="1701752" cy="242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The Age Paradox</a:t>
            </a:r>
          </a:p>
        </p:txBody>
      </p:sp>
      <p:sp>
        <p:nvSpPr>
          <p:cNvPr id="205" name="Text 32"/>
          <p:cNvSpPr txBox="1"/>
          <p:nvPr/>
        </p:nvSpPr>
        <p:spPr>
          <a:xfrm>
            <a:off x="5500659" y="3859679"/>
            <a:ext cx="3214690" cy="60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Age ranks lowest among the top predictors, likely absorbed by collinear behavioral features.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41" y="1571094"/>
            <a:ext cx="3972023" cy="28355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0"/>
          <p:cNvSpPr txBox="1"/>
          <p:nvPr/>
        </p:nvSpPr>
        <p:spPr>
          <a:xfrm>
            <a:off x="914400" y="270509"/>
            <a:ext cx="77724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Best vs Worst Model Analysis</a:t>
            </a:r>
          </a:p>
        </p:txBody>
      </p:sp>
      <p:sp>
        <p:nvSpPr>
          <p:cNvPr id="155" name="Shape 1"/>
          <p:cNvSpPr/>
          <p:nvPr/>
        </p:nvSpPr>
        <p:spPr>
          <a:xfrm>
            <a:off x="457200" y="1097280"/>
            <a:ext cx="4114800" cy="365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6" name="Shape 2"/>
          <p:cNvSpPr/>
          <p:nvPr/>
        </p:nvSpPr>
        <p:spPr>
          <a:xfrm>
            <a:off x="457200" y="1097280"/>
            <a:ext cx="4114800" cy="45720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207008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3"/>
          <p:cNvSpPr txBox="1"/>
          <p:nvPr/>
        </p:nvSpPr>
        <p:spPr>
          <a:xfrm>
            <a:off x="1005839" y="1137919"/>
            <a:ext cx="338328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🏆 </a:t>
            </a:r>
            <a:r>
              <a:t>BEST: Gradient Boosting (Tuned)</a:t>
            </a:r>
          </a:p>
        </p:txBody>
      </p:sp>
      <p:sp>
        <p:nvSpPr>
          <p:cNvPr id="159" name="Text 4"/>
          <p:cNvSpPr txBox="1"/>
          <p:nvPr/>
        </p:nvSpPr>
        <p:spPr>
          <a:xfrm>
            <a:off x="685799" y="1915380"/>
            <a:ext cx="3657601" cy="243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Performance Metrics</a:t>
            </a:r>
          </a:p>
          <a:p>
            <a:pPr>
              <a:defRPr sz="1100"/>
            </a:pPr>
            <a:r>
              <a:t>• Accuracy: 56.18%</a:t>
            </a:r>
            <a:endParaRPr sz="1300"/>
          </a:p>
          <a:p>
            <a:pPr>
              <a:defRPr sz="1100"/>
            </a:pPr>
            <a:r>
              <a:t>• ROC-AUC: 0.5490</a:t>
            </a:r>
            <a:endParaRPr sz="1300"/>
          </a:p>
          <a:p>
            <a:pPr>
              <a:defRPr sz="1100"/>
            </a:pPr>
            <a:r>
              <a:t>• F1-Score: 0.5498</a:t>
            </a:r>
            <a:endParaRPr sz="1300"/>
          </a:p>
          <a:p>
            <a:pPr>
              <a:defRPr sz="1100"/>
            </a:pPr>
            <a:r>
              <a:t>• Recall: 69.06%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028090"/>
                </a:solidFill>
              </a:defRPr>
            </a:pPr>
            <a:r>
              <a:t>Why It Performed Best</a:t>
            </a:r>
          </a:p>
          <a:p>
            <a:pPr>
              <a:defRPr sz="1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Handles Non-linear Relationships</a:t>
            </a:r>
            <a:endParaRPr sz="1300"/>
          </a:p>
          <a:p>
            <a:pPr>
              <a:defRPr sz="1000"/>
            </a:pPr>
            <a:r>
              <a:t>  Sequential boosting captures complex feature interactions</a:t>
            </a:r>
            <a:endParaRPr sz="1300"/>
          </a:p>
          <a:p>
            <a:pPr>
              <a:defRPr sz="1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Robust to Overfitting</a:t>
            </a:r>
            <a:endParaRPr sz="1300"/>
          </a:p>
          <a:p>
            <a:pPr>
              <a:defRPr sz="1000"/>
            </a:pPr>
            <a:r>
              <a:t>  Tuned learning rate and max depth prevent overfitting</a:t>
            </a:r>
            <a:endParaRPr sz="1300"/>
          </a:p>
          <a:p>
            <a:pPr>
              <a:defRPr sz="1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Balanced Performance</a:t>
            </a:r>
            <a:endParaRPr sz="1300"/>
          </a:p>
          <a:p>
            <a:pPr>
              <a:defRPr sz="1000"/>
            </a:pPr>
            <a:r>
              <a:t>  Best trade-off between precision and recall</a:t>
            </a:r>
          </a:p>
        </p:txBody>
      </p:sp>
      <p:sp>
        <p:nvSpPr>
          <p:cNvPr id="160" name="Shape 5"/>
          <p:cNvSpPr/>
          <p:nvPr/>
        </p:nvSpPr>
        <p:spPr>
          <a:xfrm>
            <a:off x="4572000" y="1097280"/>
            <a:ext cx="4114800" cy="365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1" name="Shape 6"/>
          <p:cNvSpPr/>
          <p:nvPr/>
        </p:nvSpPr>
        <p:spPr>
          <a:xfrm>
            <a:off x="4572000" y="1097280"/>
            <a:ext cx="4114800" cy="457201"/>
          </a:xfrm>
          <a:prstGeom prst="rect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59" y="1207008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 7"/>
          <p:cNvSpPr txBox="1"/>
          <p:nvPr/>
        </p:nvSpPr>
        <p:spPr>
          <a:xfrm>
            <a:off x="5120640" y="1137919"/>
            <a:ext cx="338328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⚠️ </a:t>
            </a:r>
            <a:r>
              <a:t>WORST: XGBoost (Tuned)</a:t>
            </a:r>
          </a:p>
        </p:txBody>
      </p:sp>
      <p:sp>
        <p:nvSpPr>
          <p:cNvPr id="164" name="Text 8"/>
          <p:cNvSpPr txBox="1"/>
          <p:nvPr/>
        </p:nvSpPr>
        <p:spPr>
          <a:xfrm>
            <a:off x="4800600" y="1919371"/>
            <a:ext cx="3657600" cy="2424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6D2E46"/>
                </a:solidFill>
              </a:defRPr>
            </a:pPr>
            <a:r>
              <a:t>Performance Metrics</a:t>
            </a:r>
          </a:p>
          <a:p>
            <a:pPr>
              <a:defRPr sz="1100"/>
            </a:pPr>
            <a:r>
              <a:t>• Accuracy: 47.41%</a:t>
            </a:r>
            <a:endParaRPr sz="1300"/>
          </a:p>
          <a:p>
            <a:pPr>
              <a:defRPr sz="1100"/>
            </a:pPr>
            <a:r>
              <a:t>• ROC-AUC: 0.4962</a:t>
            </a:r>
            <a:endParaRPr sz="1300"/>
          </a:p>
          <a:p>
            <a:pPr>
              <a:defRPr sz="1100"/>
            </a:pPr>
            <a:r>
              <a:t>• F1-Score: 0.5335</a:t>
            </a:r>
            <a:endParaRPr sz="1300"/>
          </a:p>
          <a:p>
            <a:pPr>
              <a:defRPr sz="1100"/>
            </a:pPr>
            <a:r>
              <a:t>• Recall: 86.39% (but low precision: 38.54%)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6D2E46"/>
                </a:solidFill>
              </a:defRPr>
            </a:pPr>
            <a:r>
              <a:t>Why It Performed Worst</a:t>
            </a:r>
          </a:p>
          <a:p>
            <a:pPr>
              <a:defRPr sz="1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Overfitting to Training Data</a:t>
            </a:r>
            <a:endParaRPr sz="1300"/>
          </a:p>
          <a:p>
            <a:pPr>
              <a:defRPr sz="1000"/>
            </a:pPr>
            <a:r>
              <a:t>  Aggressive boosting led to poor generalization</a:t>
            </a:r>
            <a:endParaRPr sz="1300"/>
          </a:p>
          <a:p>
            <a:pPr>
              <a:defRPr sz="1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Too Many False Positives</a:t>
            </a:r>
            <a:endParaRPr sz="1300"/>
          </a:p>
          <a:p>
            <a:pPr>
              <a:defRPr sz="1000"/>
            </a:pPr>
            <a:r>
              <a:t>  High recall (86%) but very low precision (39%)</a:t>
            </a:r>
            <a:endParaRPr sz="1300"/>
          </a:p>
          <a:p>
            <a:pPr>
              <a:defRPr sz="1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Hyperparameter Sensitivity</a:t>
            </a:r>
            <a:endParaRPr sz="1300"/>
          </a:p>
          <a:p>
            <a:pPr>
              <a:defRPr sz="1000"/>
            </a:pPr>
            <a:r>
              <a:t>  Required more extensive tuning than performed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5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0"/>
          <p:cNvSpPr txBox="1"/>
          <p:nvPr/>
        </p:nvSpPr>
        <p:spPr>
          <a:xfrm>
            <a:off x="914400" y="270509"/>
            <a:ext cx="77724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Key Data Insights</a:t>
            </a:r>
          </a:p>
        </p:txBody>
      </p:sp>
      <p:sp>
        <p:nvSpPr>
          <p:cNvPr id="168" name="Shape 1"/>
          <p:cNvSpPr/>
          <p:nvPr/>
        </p:nvSpPr>
        <p:spPr>
          <a:xfrm>
            <a:off x="457200" y="1097280"/>
            <a:ext cx="4114800" cy="365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9" name="Text 2"/>
          <p:cNvSpPr txBox="1"/>
          <p:nvPr/>
        </p:nvSpPr>
        <p:spPr>
          <a:xfrm>
            <a:off x="685799" y="1307794"/>
            <a:ext cx="365760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 b="1">
                <a:solidFill>
                  <a:srgbClr val="1E2761"/>
                </a:solidFill>
              </a:defRPr>
            </a:lvl1pPr>
          </a:lstStyle>
          <a:p>
            <a:r>
              <a:t>Most Influential Health Indicators</a:t>
            </a:r>
          </a:p>
        </p:txBody>
      </p:sp>
      <p:sp>
        <p:nvSpPr>
          <p:cNvPr id="170" name="Text 3"/>
          <p:cNvSpPr txBox="1"/>
          <p:nvPr/>
        </p:nvSpPr>
        <p:spPr>
          <a:xfrm>
            <a:off x="731519" y="167797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1.</a:t>
            </a:r>
          </a:p>
        </p:txBody>
      </p:sp>
      <p:sp>
        <p:nvSpPr>
          <p:cNvPr id="171" name="Text 4"/>
          <p:cNvSpPr txBox="1"/>
          <p:nvPr/>
        </p:nvSpPr>
        <p:spPr>
          <a:xfrm>
            <a:off x="1051559" y="178452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Cholesterol</a:t>
            </a:r>
          </a:p>
        </p:txBody>
      </p:sp>
      <p:sp>
        <p:nvSpPr>
          <p:cNvPr id="172" name="Text 5"/>
          <p:cNvSpPr txBox="1"/>
          <p:nvPr/>
        </p:nvSpPr>
        <p:spPr>
          <a:xfrm>
            <a:off x="3429000" y="1783079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High</a:t>
            </a:r>
          </a:p>
        </p:txBody>
      </p:sp>
      <p:sp>
        <p:nvSpPr>
          <p:cNvPr id="173" name="Text 6"/>
          <p:cNvSpPr txBox="1"/>
          <p:nvPr/>
        </p:nvSpPr>
        <p:spPr>
          <a:xfrm>
            <a:off x="731519" y="199801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2.</a:t>
            </a:r>
          </a:p>
        </p:txBody>
      </p:sp>
      <p:sp>
        <p:nvSpPr>
          <p:cNvPr id="174" name="Text 7"/>
          <p:cNvSpPr txBox="1"/>
          <p:nvPr/>
        </p:nvSpPr>
        <p:spPr>
          <a:xfrm>
            <a:off x="1051559" y="210456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Blood Pressure</a:t>
            </a:r>
          </a:p>
        </p:txBody>
      </p:sp>
      <p:sp>
        <p:nvSpPr>
          <p:cNvPr id="175" name="Text 8"/>
          <p:cNvSpPr txBox="1"/>
          <p:nvPr/>
        </p:nvSpPr>
        <p:spPr>
          <a:xfrm>
            <a:off x="3429000" y="2103120"/>
            <a:ext cx="8229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High</a:t>
            </a:r>
          </a:p>
        </p:txBody>
      </p:sp>
      <p:sp>
        <p:nvSpPr>
          <p:cNvPr id="176" name="Text 9"/>
          <p:cNvSpPr txBox="1"/>
          <p:nvPr/>
        </p:nvSpPr>
        <p:spPr>
          <a:xfrm>
            <a:off x="731519" y="231805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3.</a:t>
            </a:r>
          </a:p>
        </p:txBody>
      </p:sp>
      <p:sp>
        <p:nvSpPr>
          <p:cNvPr id="177" name="Text 10"/>
          <p:cNvSpPr txBox="1"/>
          <p:nvPr/>
        </p:nvSpPr>
        <p:spPr>
          <a:xfrm>
            <a:off x="1051559" y="242460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Triglycerides</a:t>
            </a:r>
          </a:p>
        </p:txBody>
      </p:sp>
      <p:sp>
        <p:nvSpPr>
          <p:cNvPr id="178" name="Text 11"/>
          <p:cNvSpPr txBox="1"/>
          <p:nvPr/>
        </p:nvSpPr>
        <p:spPr>
          <a:xfrm>
            <a:off x="3429000" y="2423160"/>
            <a:ext cx="8229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High</a:t>
            </a:r>
          </a:p>
        </p:txBody>
      </p:sp>
      <p:sp>
        <p:nvSpPr>
          <p:cNvPr id="179" name="Text 12"/>
          <p:cNvSpPr txBox="1"/>
          <p:nvPr/>
        </p:nvSpPr>
        <p:spPr>
          <a:xfrm>
            <a:off x="731519" y="263809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4.</a:t>
            </a:r>
          </a:p>
        </p:txBody>
      </p:sp>
      <p:sp>
        <p:nvSpPr>
          <p:cNvPr id="180" name="Text 13"/>
          <p:cNvSpPr txBox="1"/>
          <p:nvPr/>
        </p:nvSpPr>
        <p:spPr>
          <a:xfrm>
            <a:off x="1051559" y="274464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Age</a:t>
            </a:r>
          </a:p>
        </p:txBody>
      </p:sp>
      <p:sp>
        <p:nvSpPr>
          <p:cNvPr id="181" name="Text 14"/>
          <p:cNvSpPr txBox="1"/>
          <p:nvPr/>
        </p:nvSpPr>
        <p:spPr>
          <a:xfrm>
            <a:off x="3429000" y="2743200"/>
            <a:ext cx="8229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Medium-High</a:t>
            </a:r>
          </a:p>
        </p:txBody>
      </p:sp>
      <p:sp>
        <p:nvSpPr>
          <p:cNvPr id="182" name="Text 15"/>
          <p:cNvSpPr txBox="1"/>
          <p:nvPr/>
        </p:nvSpPr>
        <p:spPr>
          <a:xfrm>
            <a:off x="731519" y="295813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5.</a:t>
            </a:r>
          </a:p>
        </p:txBody>
      </p:sp>
      <p:sp>
        <p:nvSpPr>
          <p:cNvPr id="183" name="Text 16"/>
          <p:cNvSpPr txBox="1"/>
          <p:nvPr/>
        </p:nvSpPr>
        <p:spPr>
          <a:xfrm>
            <a:off x="1051559" y="306468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BMI</a:t>
            </a:r>
          </a:p>
        </p:txBody>
      </p:sp>
      <p:sp>
        <p:nvSpPr>
          <p:cNvPr id="184" name="Text 17"/>
          <p:cNvSpPr txBox="1"/>
          <p:nvPr/>
        </p:nvSpPr>
        <p:spPr>
          <a:xfrm>
            <a:off x="3429000" y="3063239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Medium-High</a:t>
            </a:r>
          </a:p>
        </p:txBody>
      </p:sp>
      <p:sp>
        <p:nvSpPr>
          <p:cNvPr id="185" name="Text 18"/>
          <p:cNvSpPr txBox="1"/>
          <p:nvPr/>
        </p:nvSpPr>
        <p:spPr>
          <a:xfrm>
            <a:off x="731519" y="327817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6.</a:t>
            </a:r>
          </a:p>
        </p:txBody>
      </p:sp>
      <p:sp>
        <p:nvSpPr>
          <p:cNvPr id="186" name="Text 19"/>
          <p:cNvSpPr txBox="1"/>
          <p:nvPr/>
        </p:nvSpPr>
        <p:spPr>
          <a:xfrm>
            <a:off x="1051559" y="338472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Diabetes</a:t>
            </a:r>
          </a:p>
        </p:txBody>
      </p:sp>
      <p:sp>
        <p:nvSpPr>
          <p:cNvPr id="187" name="Text 20"/>
          <p:cNvSpPr txBox="1"/>
          <p:nvPr/>
        </p:nvSpPr>
        <p:spPr>
          <a:xfrm>
            <a:off x="3429000" y="3383279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Medium</a:t>
            </a:r>
          </a:p>
        </p:txBody>
      </p:sp>
      <p:sp>
        <p:nvSpPr>
          <p:cNvPr id="188" name="Text 21"/>
          <p:cNvSpPr txBox="1"/>
          <p:nvPr/>
        </p:nvSpPr>
        <p:spPr>
          <a:xfrm>
            <a:off x="731519" y="359821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7.</a:t>
            </a:r>
          </a:p>
        </p:txBody>
      </p:sp>
      <p:sp>
        <p:nvSpPr>
          <p:cNvPr id="189" name="Text 22"/>
          <p:cNvSpPr txBox="1"/>
          <p:nvPr/>
        </p:nvSpPr>
        <p:spPr>
          <a:xfrm>
            <a:off x="1051559" y="3704766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Exercise Hours</a:t>
            </a:r>
          </a:p>
        </p:txBody>
      </p:sp>
      <p:sp>
        <p:nvSpPr>
          <p:cNvPr id="190" name="Text 23"/>
          <p:cNvSpPr txBox="1"/>
          <p:nvPr/>
        </p:nvSpPr>
        <p:spPr>
          <a:xfrm>
            <a:off x="3429000" y="3703320"/>
            <a:ext cx="8229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Medium</a:t>
            </a:r>
          </a:p>
        </p:txBody>
      </p:sp>
      <p:sp>
        <p:nvSpPr>
          <p:cNvPr id="191" name="Text 24"/>
          <p:cNvSpPr txBox="1"/>
          <p:nvPr/>
        </p:nvSpPr>
        <p:spPr>
          <a:xfrm>
            <a:off x="731519" y="3918257"/>
            <a:ext cx="18288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28090"/>
                </a:solidFill>
              </a:defRPr>
            </a:lvl1pPr>
          </a:lstStyle>
          <a:p>
            <a:r>
              <a:t>8.</a:t>
            </a:r>
          </a:p>
        </p:txBody>
      </p:sp>
      <p:sp>
        <p:nvSpPr>
          <p:cNvPr id="192" name="Text 25"/>
          <p:cNvSpPr txBox="1"/>
          <p:nvPr/>
        </p:nvSpPr>
        <p:spPr>
          <a:xfrm>
            <a:off x="1051559" y="4024805"/>
            <a:ext cx="21945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2C2C2C"/>
                </a:solidFill>
              </a:defRPr>
            </a:lvl1pPr>
          </a:lstStyle>
          <a:p>
            <a:r>
              <a:t>Sedentary Hours</a:t>
            </a:r>
          </a:p>
        </p:txBody>
      </p:sp>
      <p:sp>
        <p:nvSpPr>
          <p:cNvPr id="193" name="Text 26"/>
          <p:cNvSpPr txBox="1"/>
          <p:nvPr/>
        </p:nvSpPr>
        <p:spPr>
          <a:xfrm>
            <a:off x="3429000" y="4023359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5A5A5A"/>
                </a:solidFill>
              </a:defRPr>
            </a:lvl1pPr>
          </a:lstStyle>
          <a:p>
            <a:r>
              <a:t>Medium</a:t>
            </a:r>
          </a:p>
        </p:txBody>
      </p:sp>
      <p:sp>
        <p:nvSpPr>
          <p:cNvPr id="194" name="Shape 27"/>
          <p:cNvSpPr/>
          <p:nvPr/>
        </p:nvSpPr>
        <p:spPr>
          <a:xfrm>
            <a:off x="4572000" y="1097280"/>
            <a:ext cx="4114800" cy="365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38100" dir="8100000" rotWithShape="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95" name="Text 28"/>
          <p:cNvSpPr txBox="1"/>
          <p:nvPr/>
        </p:nvSpPr>
        <p:spPr>
          <a:xfrm>
            <a:off x="4800600" y="1307794"/>
            <a:ext cx="365760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 b="1">
                <a:solidFill>
                  <a:srgbClr val="1E2761"/>
                </a:solidFill>
              </a:defRPr>
            </a:lvl1pPr>
          </a:lstStyle>
          <a:p>
            <a:r>
              <a:t>Risk Patterns Observed</a:t>
            </a:r>
          </a:p>
        </p:txBody>
      </p:sp>
      <p:sp>
        <p:nvSpPr>
          <p:cNvPr id="196" name="Text 29"/>
          <p:cNvSpPr txBox="1"/>
          <p:nvPr/>
        </p:nvSpPr>
        <p:spPr>
          <a:xfrm>
            <a:off x="4800600" y="1668824"/>
            <a:ext cx="3657600" cy="2971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6D2E46"/>
                </a:solidFill>
              </a:defRPr>
            </a:pPr>
            <a:r>
              <a:t>Clinical Markers</a:t>
            </a:r>
          </a:p>
          <a:p>
            <a:pPr>
              <a:defRPr sz="1000"/>
            </a:pPr>
            <a:r>
              <a:t>Patients with cholesterol &gt; 240 mg/dL and systolic BP &gt; 140 mmHg showed significantly higher risk.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6D2E46"/>
                </a:solidFill>
              </a:defRPr>
            </a:pPr>
            <a:r>
              <a:t>Lifestyle Impact</a:t>
            </a:r>
          </a:p>
          <a:p>
            <a:pPr>
              <a:defRPr sz="1000"/>
            </a:pPr>
            <a:r>
              <a:t>Sedentary behavior &gt; 8 hours/day combined with &lt; 2 hours exercise/week strongly correlated with high risk.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6D2E46"/>
                </a:solidFill>
              </a:defRPr>
            </a:pPr>
            <a:r>
              <a:t>Medical History</a:t>
            </a:r>
          </a:p>
          <a:p>
            <a:pPr>
              <a:defRPr sz="1000"/>
            </a:pPr>
            <a:r>
              <a:t>Family history + diabetes created a multiplicative risk effect beyond individual factors.</a:t>
            </a:r>
            <a:endParaRPr sz="1300"/>
          </a:p>
          <a:p>
            <a:pPr>
              <a:defRPr sz="1300"/>
            </a:pPr>
            <a:endParaRPr sz="1300"/>
          </a:p>
          <a:p>
            <a:pPr>
              <a:defRPr sz="1300" b="1">
                <a:solidFill>
                  <a:srgbClr val="028090"/>
                </a:solidFill>
              </a:defRPr>
            </a:pPr>
            <a:r>
              <a:t>Practical Interpretation</a:t>
            </a:r>
          </a:p>
          <a:p>
            <a:pPr>
              <a:defRPr sz="1000"/>
            </a:pPr>
            <a:r>
              <a:t>• Early screening crucial for patients with multiple risk factors</a:t>
            </a:r>
            <a:endParaRPr sz="1300"/>
          </a:p>
          <a:p>
            <a:pPr>
              <a:defRPr sz="1000"/>
            </a:pPr>
            <a:r>
              <a:t>• Lifestyle interventions can significantly reduce risk</a:t>
            </a:r>
            <a:endParaRPr sz="1300"/>
          </a:p>
          <a:p>
            <a:pPr>
              <a:defRPr sz="1000"/>
            </a:pPr>
            <a:r>
              <a:t>• Clinical markers remain most predictive indicators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6616"/>
            <a:ext cx="731520" cy="73152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0"/>
          <p:cNvSpPr txBox="1"/>
          <p:nvPr/>
        </p:nvSpPr>
        <p:spPr>
          <a:xfrm>
            <a:off x="502919" y="579425"/>
            <a:ext cx="8138162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Conclusion</a:t>
            </a:r>
          </a:p>
        </p:txBody>
      </p:sp>
      <p:sp>
        <p:nvSpPr>
          <p:cNvPr id="210" name="Shape 1"/>
          <p:cNvSpPr/>
          <p:nvPr/>
        </p:nvSpPr>
        <p:spPr>
          <a:xfrm>
            <a:off x="1857660" y="5735378"/>
            <a:ext cx="7315201" cy="2651761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 2"/>
          <p:cNvSpPr txBox="1"/>
          <p:nvPr/>
        </p:nvSpPr>
        <p:spPr>
          <a:xfrm>
            <a:off x="544592" y="1483524"/>
            <a:ext cx="6675121" cy="304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>
                <a:solidFill>
                  <a:srgbClr val="00A896"/>
                </a:solidFill>
              </a:defRPr>
            </a:pPr>
            <a:r>
              <a:t>Answer to Research Question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Machine learning models can predict heart attack risk with moderate accuracy (56% best model). While performance is above baseline, there is significant room for improvement with additional features and advanced techniques.</a:t>
            </a:r>
            <a:endParaRPr sz="1600"/>
          </a:p>
          <a:p>
            <a:pPr>
              <a:defRPr sz="1600"/>
            </a:pPr>
            <a:endParaRPr sz="1600"/>
          </a:p>
          <a:p>
            <a:pPr>
              <a:defRPr sz="1600" b="1">
                <a:solidFill>
                  <a:srgbClr val="00A896"/>
                </a:solidFill>
              </a:defRPr>
            </a:pPr>
            <a:r>
              <a:t>Overall Findings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Gradient Boosting achieved the best overall performance (56.18% accuracy, ROC-AUC 0.5490)</a:t>
            </a:r>
            <a:endParaRPr sz="1600"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Clinical markers (cholesterol, blood pressure, triglycerides) were most predictive</a:t>
            </a:r>
            <a:endParaRPr sz="1600"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Class imbalance (64:36) affected model recall for high-risk patients</a:t>
            </a:r>
            <a:endParaRPr sz="1600"/>
          </a:p>
          <a:p>
            <a:pPr>
              <a:defRPr sz="1600"/>
            </a:pPr>
            <a:endParaRPr sz="1600"/>
          </a:p>
          <a:p>
            <a:pPr>
              <a:defRPr sz="1600" b="1">
                <a:solidFill>
                  <a:srgbClr val="00A896"/>
                </a:solidFill>
              </a:defRPr>
            </a:pPr>
            <a:r>
              <a:t>Model Effectiveness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Tree-based ensemble methods outperformed individual decision trees. Models demonstrated ability to capture non-linear relationships and feature interactions, making them suitable for medical risk prediction with further refinement.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Microsoft Macintosh PowerPoint</Application>
  <PresentationFormat>On-screen Show (16:9)</PresentationFormat>
  <Paragraphs>246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Vaibhavi Bogaraja Raj</cp:lastModifiedBy>
  <cp:revision>1</cp:revision>
  <dcterms:modified xsi:type="dcterms:W3CDTF">2026-02-11T13:52:45Z</dcterms:modified>
</cp:coreProperties>
</file>